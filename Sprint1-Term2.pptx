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413" r:id="rId3"/>
    <p:sldId id="417" r:id="rId4"/>
    <p:sldId id="430" r:id="rId5"/>
    <p:sldId id="429" r:id="rId6"/>
    <p:sldId id="427" r:id="rId7"/>
    <p:sldId id="428" r:id="rId8"/>
    <p:sldId id="431" r:id="rId9"/>
    <p:sldId id="414" r:id="rId10"/>
    <p:sldId id="416" r:id="rId11"/>
    <p:sldId id="415" r:id="rId12"/>
    <p:sldId id="418" r:id="rId13"/>
    <p:sldId id="419" r:id="rId14"/>
    <p:sldId id="425" r:id="rId15"/>
    <p:sldId id="42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38F26A-1903-A0FE-4F79-B216BB416E87}" v="1024" dt="2026-02-09T18:24:25.145"/>
    <p1510:client id="{4FE3FBFA-938D-279E-899D-13C6E36CE432}" v="2" dt="2026-02-10T17:48:14.727"/>
    <p1510:client id="{5E0CEA4C-1EBE-7DDD-D3DC-23EC70C18A11}" v="5" dt="2026-02-10T06:01:18.388"/>
    <p1510:client id="{606A82D3-B09F-1167-9C2F-6536292443A3}" v="3" dt="2026-02-10T17:55:55.057"/>
    <p1510:client id="{7A1AAC1F-D261-1A7E-FBDF-C5ADC69E3685}" v="107" dt="2026-02-10T17:53:24.018"/>
    <p1510:client id="{825F2F2B-759A-1426-0AD7-283D51926D13}" v="462" dt="2026-02-10T16:28:12.804"/>
    <p1510:client id="{B5F4F7DB-4D33-4D39-8987-5C24B4E774F3}" v="59" dt="2026-02-10T17:46:59.269"/>
    <p1510:client id="{DB06FD1C-E77E-E629-5C7D-06109E550A04}" v="145" dt="2026-02-10T04:34:57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0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7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55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6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9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5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51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94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3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6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4569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0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1618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0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1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9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4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6214" y="1295152"/>
            <a:ext cx="7766936" cy="2419507"/>
          </a:xfrm>
        </p:spPr>
        <p:txBody>
          <a:bodyPr/>
          <a:lstStyle/>
          <a:p>
            <a:pPr algn="l"/>
            <a:r>
              <a:rPr lang="en-US" sz="6600" b="1">
                <a:latin typeface="Franklin Gothic Demi"/>
              </a:rPr>
              <a:t>Project Clara</a:t>
            </a:r>
            <a:br>
              <a:rPr lang="en-US" sz="6600" b="1">
                <a:latin typeface="Franklin Gothic Demi"/>
              </a:rPr>
            </a:br>
            <a:r>
              <a:rPr lang="en-US" sz="4000" b="1">
                <a:latin typeface="Franklin Gothic Demi"/>
              </a:rPr>
              <a:t>Sprint 4</a:t>
            </a:r>
          </a:p>
          <a:p>
            <a:endParaRPr lang="en-US">
              <a:latin typeface="Aptos Display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6214" y="3120746"/>
            <a:ext cx="7766936" cy="25536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400" b="1">
                <a:solidFill>
                  <a:schemeClr val="bg2">
                    <a:lumMod val="10000"/>
                  </a:schemeClr>
                </a:solidFill>
                <a:latin typeface="Franklin Gothic Book"/>
              </a:rPr>
              <a:t>Foxcorp</a:t>
            </a:r>
            <a:endParaRPr lang="en-US" sz="2400" b="1">
              <a:solidFill>
                <a:schemeClr val="bg2">
                  <a:lumMod val="10000"/>
                </a:schemeClr>
              </a:solidFill>
            </a:endParaRPr>
          </a:p>
          <a:p>
            <a:pPr algn="l">
              <a:spcBef>
                <a:spcPts val="0"/>
              </a:spcBef>
            </a:pPr>
            <a:r>
              <a:rPr lang="en-US" sz="2400" b="1">
                <a:solidFill>
                  <a:schemeClr val="bg2">
                    <a:lumMod val="10000"/>
                  </a:schemeClr>
                </a:solidFill>
                <a:latin typeface="Franklin Gothic Book"/>
              </a:rPr>
              <a:t>Team Members: </a:t>
            </a:r>
            <a:endParaRPr lang="en-US" sz="2400" b="1">
              <a:solidFill>
                <a:schemeClr val="bg2">
                  <a:lumMod val="10000"/>
                </a:schemeClr>
              </a:solidFill>
              <a:latin typeface="Trebuchet MS" panose="020B0603020202020204"/>
            </a:endParaRPr>
          </a:p>
          <a:p>
            <a:pPr marL="285750" indent="-285750" algn="l">
              <a:spcBef>
                <a:spcPts val="0"/>
              </a:spcBef>
              <a:buFont typeface="Arial" charset="2"/>
              <a:buChar char="•"/>
            </a:pPr>
            <a:r>
              <a:rPr lang="en-US" sz="2400">
                <a:solidFill>
                  <a:schemeClr val="bg2">
                    <a:lumMod val="10000"/>
                  </a:schemeClr>
                </a:solidFill>
                <a:latin typeface="Franklin Gothic Book"/>
              </a:rPr>
              <a:t>Abeer Syed</a:t>
            </a:r>
            <a:endParaRPr lang="en-US" sz="2400" b="1">
              <a:solidFill>
                <a:schemeClr val="bg2">
                  <a:lumMod val="10000"/>
                </a:schemeClr>
              </a:solidFill>
              <a:latin typeface="Trebuchet MS" panose="020B0603020202020204"/>
            </a:endParaRPr>
          </a:p>
          <a:p>
            <a:pPr marL="285750" indent="-285750" algn="l">
              <a:spcBef>
                <a:spcPts val="0"/>
              </a:spcBef>
              <a:buFont typeface="Arial" charset="2"/>
              <a:buChar char="•"/>
            </a:pPr>
            <a:r>
              <a:rPr lang="en-US" sz="2400">
                <a:solidFill>
                  <a:schemeClr val="bg2">
                    <a:lumMod val="10000"/>
                  </a:schemeClr>
                </a:solidFill>
                <a:latin typeface="Franklin Gothic Book"/>
              </a:rPr>
              <a:t>Abraham Abebe</a:t>
            </a:r>
            <a:endParaRPr lang="en-US" sz="2400" b="1">
              <a:solidFill>
                <a:schemeClr val="bg2">
                  <a:lumMod val="10000"/>
                </a:schemeClr>
              </a:solidFill>
              <a:latin typeface="Trebuchet MS" panose="020B0603020202020204"/>
            </a:endParaRPr>
          </a:p>
          <a:p>
            <a:pPr marL="285750" indent="-285750" algn="l">
              <a:spcBef>
                <a:spcPts val="0"/>
              </a:spcBef>
              <a:buFont typeface="Arial" charset="2"/>
              <a:buChar char="•"/>
            </a:pPr>
            <a:r>
              <a:rPr lang="en-US" sz="2400">
                <a:solidFill>
                  <a:schemeClr val="bg2">
                    <a:lumMod val="10000"/>
                  </a:schemeClr>
                </a:solidFill>
                <a:latin typeface="Franklin Gothic Book"/>
              </a:rPr>
              <a:t>Douglas Borovina</a:t>
            </a:r>
          </a:p>
          <a:p>
            <a:pPr marL="285750" indent="-285750" algn="l">
              <a:spcBef>
                <a:spcPts val="0"/>
              </a:spcBef>
              <a:buFont typeface="Arial" charset="2"/>
              <a:buChar char="•"/>
            </a:pPr>
            <a:r>
              <a:rPr lang="en-US" sz="2400">
                <a:solidFill>
                  <a:schemeClr val="bg2">
                    <a:lumMod val="10000"/>
                  </a:schemeClr>
                </a:solidFill>
                <a:latin typeface="Franklin Gothic Book"/>
              </a:rPr>
              <a:t>Hayat Dahraj</a:t>
            </a:r>
            <a:endParaRPr lang="en-US" sz="2400">
              <a:solidFill>
                <a:schemeClr val="bg2">
                  <a:lumMod val="10000"/>
                </a:schemeClr>
              </a:solidFill>
              <a:latin typeface="Trebuchet MS"/>
            </a:endParaRPr>
          </a:p>
          <a:p>
            <a:pPr marL="285750" indent="-285750" algn="l">
              <a:spcBef>
                <a:spcPts val="0"/>
              </a:spcBef>
              <a:buFont typeface="Arial" charset="2"/>
              <a:buChar char="•"/>
            </a:pPr>
            <a:r>
              <a:rPr lang="en-US" sz="2400">
                <a:solidFill>
                  <a:schemeClr val="bg2">
                    <a:lumMod val="10000"/>
                  </a:schemeClr>
                </a:solidFill>
                <a:latin typeface="Franklin Gothic Book"/>
              </a:rPr>
              <a:t>Jacob Gallagher</a:t>
            </a:r>
            <a:endParaRPr lang="en-US" sz="240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54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86117-6CAA-D539-CE58-E65EBCBA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/>
              <a:t>Problem Statement</a:t>
            </a:r>
            <a:endParaRPr lang="en-US" sz="440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A5A7-0777-BBA3-8C44-86EC986A1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329463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>
                <a:solidFill>
                  <a:schemeClr val="bg2">
                    <a:lumMod val="10000"/>
                  </a:schemeClr>
                </a:solidFill>
              </a:rPr>
              <a:t>Currently, Parents have no good way of knowing what their child is doing at school, which contributes to several problems in both the families' lives and the teachers'.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3847B-BE20-77F0-4A3E-B8767925AA73}"/>
              </a:ext>
            </a:extLst>
          </p:cNvPr>
          <p:cNvSpPr txBox="1"/>
          <p:nvPr/>
        </p:nvSpPr>
        <p:spPr>
          <a:xfrm>
            <a:off x="6234247" y="2159957"/>
            <a:ext cx="413707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2">
                    <a:lumMod val="10000"/>
                  </a:schemeClr>
                </a:solidFill>
              </a:rPr>
              <a:t>Parent anxiety about child's whereabouts throughout the day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2">
                    <a:lumMod val="10000"/>
                  </a:schemeClr>
                </a:solidFill>
              </a:rPr>
              <a:t>No information on child's wellbeing throughout the day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2">
                    <a:lumMod val="10000"/>
                  </a:schemeClr>
                </a:solidFill>
              </a:rPr>
              <a:t>Lack of parental engagement in child's education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2">
                    <a:lumMod val="10000"/>
                  </a:schemeClr>
                </a:solidFill>
              </a:rPr>
              <a:t>No efficient channels to communicate concerns to teachers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2">
                    <a:lumMod val="10000"/>
                  </a:schemeClr>
                </a:solidFill>
              </a:rPr>
              <a:t>Burden on teacher to manage several fragmented communication channels</a:t>
            </a:r>
          </a:p>
        </p:txBody>
      </p:sp>
    </p:spTree>
    <p:extLst>
      <p:ext uri="{BB962C8B-B14F-4D97-AF65-F5344CB8AC3E}">
        <p14:creationId xmlns:p14="http://schemas.microsoft.com/office/powerpoint/2010/main" val="202399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4CBBD-E699-5575-A543-32D12001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Reorganized File Structure  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1DD7DE2-DA7F-DA74-51B4-35A0F4B7B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649" y="-1633"/>
            <a:ext cx="12294785" cy="685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22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71CDF8-95BB-6F3E-5689-216158A63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5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87CC-540E-713A-90A7-FD17F61B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endParaRPr lang="en-GB"/>
          </a:p>
        </p:txBody>
      </p:sp>
      <p:pic>
        <p:nvPicPr>
          <p:cNvPr id="5" name="Picture 4" descr="Stick figure families holding hands">
            <a:extLst>
              <a:ext uri="{FF2B5EF4-FFF2-40B4-BE49-F238E27FC236}">
                <a16:creationId xmlns:a16="http://schemas.microsoft.com/office/drawing/2014/main" id="{89375BF6-5124-1881-4D99-672A8C05C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44" t="5559" r="25695" b="-8"/>
          <a:stretch>
            <a:fillRect/>
          </a:stretch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family structure&#10;&#10;AI-generated content may be incorrect.">
            <a:extLst>
              <a:ext uri="{FF2B5EF4-FFF2-40B4-BE49-F238E27FC236}">
                <a16:creationId xmlns:a16="http://schemas.microsoft.com/office/drawing/2014/main" id="{69BC8814-C6A2-BAFE-05A8-85EA5B494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59002" y="-5352"/>
            <a:ext cx="6212130" cy="3460796"/>
          </a:xfrm>
          <a:prstGeom prst="rect">
            <a:avLst/>
          </a:prstGeom>
        </p:spPr>
      </p:pic>
      <p:pic>
        <p:nvPicPr>
          <p:cNvPr id="6" name="Picture 5" descr="A diagram of a teacher&#10;&#10;AI-generated content may be incorrect.">
            <a:extLst>
              <a:ext uri="{FF2B5EF4-FFF2-40B4-BE49-F238E27FC236}">
                <a16:creationId xmlns:a16="http://schemas.microsoft.com/office/drawing/2014/main" id="{3EA6C6DD-63A7-446A-0FA0-16B192C25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677" y="0"/>
            <a:ext cx="6149235" cy="3455444"/>
          </a:xfrm>
          <a:prstGeom prst="rect">
            <a:avLst/>
          </a:prstGeom>
        </p:spPr>
      </p:pic>
      <p:pic>
        <p:nvPicPr>
          <p:cNvPr id="7" name="Picture 6" descr="A diagram of a child&amp;#39;s data record&#10;&#10;AI-generated content may be incorrect.">
            <a:extLst>
              <a:ext uri="{FF2B5EF4-FFF2-40B4-BE49-F238E27FC236}">
                <a16:creationId xmlns:a16="http://schemas.microsoft.com/office/drawing/2014/main" id="{BFA2DE58-4288-70C8-4834-51BDCBE3A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332" y="3455444"/>
            <a:ext cx="6182580" cy="3386997"/>
          </a:xfrm>
          <a:prstGeom prst="rect">
            <a:avLst/>
          </a:prstGeom>
        </p:spPr>
      </p:pic>
      <p:pic>
        <p:nvPicPr>
          <p:cNvPr id="8" name="Picture 7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EB3A3224-F0C3-C6A0-30EA-C8C56A5EE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104" y="3455444"/>
            <a:ext cx="6106334" cy="34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2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223FC-CE80-E514-6862-760FC03F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EDD71-239E-F194-27D8-76C4930C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chemeClr val="bg1"/>
                </a:solidFill>
              </a:rPr>
              <a:t>Backend – 1</a:t>
            </a:r>
            <a:br>
              <a:rPr lang="en-US" sz="3100">
                <a:solidFill>
                  <a:schemeClr val="bg1"/>
                </a:solidFill>
              </a:rPr>
            </a:br>
            <a:r>
              <a:rPr lang="en-US" sz="3100">
                <a:solidFill>
                  <a:schemeClr val="bg1"/>
                </a:solidFill>
                <a:ea typeface="+mj-lt"/>
                <a:cs typeface="+mj-lt"/>
              </a:rPr>
              <a:t>Backend Data Architecture</a:t>
            </a:r>
            <a:endParaRPr lang="en-US" sz="3100">
              <a:solidFill>
                <a:schemeClr val="bg1"/>
              </a:solidFill>
            </a:endParaRPr>
          </a:p>
        </p:txBody>
      </p:sp>
      <p:sp>
        <p:nvSpPr>
          <p:cNvPr id="76" name="Content Placeholder 75">
            <a:extLst>
              <a:ext uri="{FF2B5EF4-FFF2-40B4-BE49-F238E27FC236}">
                <a16:creationId xmlns:a16="http://schemas.microsoft.com/office/drawing/2014/main" id="{C982F7B0-16CA-22A4-2757-F9FD05C2B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Content Placeholder 6" descr="A diagram of a child&#10;&#10;AI-generated content may be incorrect.">
            <a:extLst>
              <a:ext uri="{FF2B5EF4-FFF2-40B4-BE49-F238E27FC236}">
                <a16:creationId xmlns:a16="http://schemas.microsoft.com/office/drawing/2014/main" id="{F0D43F17-99E3-43CA-B213-1F7AE05BA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632" y="1689359"/>
            <a:ext cx="8601345" cy="4832877"/>
          </a:xfrm>
          <a:prstGeom prst="rect">
            <a:avLst/>
          </a:prstGeom>
        </p:spPr>
      </p:pic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5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E9E90-127F-91C4-5970-EA2A1482F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72496"/>
            <a:ext cx="5320646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Database: Tables Created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9AAB0DF-DC26-0707-2A73-92E1FE1B0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A black and white table with white text&#10;&#10;AI-generated content may be incorrect.">
            <a:extLst>
              <a:ext uri="{FF2B5EF4-FFF2-40B4-BE49-F238E27FC236}">
                <a16:creationId xmlns:a16="http://schemas.microsoft.com/office/drawing/2014/main" id="{42C41C46-BC4D-36EE-4181-E7F58010F3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" t="-1132" r="-186" b="1323"/>
          <a:stretch>
            <a:fillRect/>
          </a:stretch>
        </p:blipFill>
        <p:spPr>
          <a:xfrm>
            <a:off x="2658918" y="1420960"/>
            <a:ext cx="9084349" cy="5437037"/>
          </a:xfrm>
          <a:prstGeom prst="rect">
            <a:avLst/>
          </a:prstGeom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1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FBE5-216A-63AE-24B7-29DF0E75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Backend: Additional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2461-AA96-1C39-1B20-5288274F8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9905"/>
            <a:ext cx="9630065" cy="54360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/>
              <a:t>Incidents</a:t>
            </a:r>
            <a:r>
              <a:rPr lang="en-US"/>
              <a:t>: Records incidents reported by teachers involving specific students.</a:t>
            </a:r>
          </a:p>
          <a:p>
            <a:pPr marL="0" indent="0">
              <a:buNone/>
            </a:pPr>
            <a:r>
              <a:rPr lang="en-US"/>
              <a:t>          - Incidents are linked to Teacher, Student, Class and School(one-to-many).</a:t>
            </a:r>
          </a:p>
          <a:p>
            <a:pPr marL="0" indent="0">
              <a:buNone/>
            </a:pPr>
            <a:r>
              <a:rPr lang="en-US"/>
              <a:t>          - Lets the teachers report issues.</a:t>
            </a:r>
          </a:p>
          <a:p>
            <a:pPr marL="0" indent="0">
              <a:buNone/>
            </a:pPr>
            <a:r>
              <a:rPr lang="en-US"/>
              <a:t>          - Stores Date, Description, Severity of </a:t>
            </a:r>
            <a:r>
              <a:rPr lang="en-US" err="1"/>
              <a:t>incldent</a:t>
            </a:r>
            <a:r>
              <a:rPr lang="en-US"/>
              <a:t>, </a:t>
            </a:r>
            <a:r>
              <a:rPr lang="en-US" err="1"/>
              <a:t>studentId</a:t>
            </a:r>
            <a:r>
              <a:rPr lang="en-US"/>
              <a:t>, </a:t>
            </a:r>
            <a:r>
              <a:rPr lang="en-US" err="1"/>
              <a:t>classId</a:t>
            </a:r>
            <a:r>
              <a:rPr lang="en-US"/>
              <a:t>, </a:t>
            </a:r>
            <a:r>
              <a:rPr lang="en-US" err="1"/>
              <a:t>schoolId</a:t>
            </a:r>
          </a:p>
          <a:p>
            <a:pPr marL="0" indent="0">
              <a:buNone/>
            </a:pPr>
            <a:r>
              <a:rPr lang="en-US"/>
              <a:t>                       Examples: Injury, Classroom Disruption, Nurse visit</a:t>
            </a:r>
          </a:p>
          <a:p>
            <a:r>
              <a:rPr lang="en-US" b="1" err="1"/>
              <a:t>MedicalRecord</a:t>
            </a:r>
            <a:r>
              <a:rPr lang="en-US"/>
              <a:t>: Stores student medical information such as allergies and medication.</a:t>
            </a:r>
          </a:p>
          <a:p>
            <a:pPr marL="0" indent="0">
              <a:buNone/>
            </a:pPr>
            <a:r>
              <a:rPr lang="en-US"/>
              <a:t>           - Medical Records are linked one to one with each student.</a:t>
            </a:r>
          </a:p>
          <a:p>
            <a:pPr marL="0" indent="0">
              <a:buNone/>
            </a:pPr>
            <a:r>
              <a:rPr lang="en-US"/>
              <a:t>           - Helps teachers and staff respond safely.</a:t>
            </a:r>
          </a:p>
          <a:p>
            <a:pPr marL="0" indent="0">
              <a:buNone/>
            </a:pPr>
            <a:r>
              <a:rPr lang="en-US"/>
              <a:t>           - Stores </a:t>
            </a:r>
            <a:r>
              <a:rPr lang="en-US" err="1"/>
              <a:t>studentId</a:t>
            </a:r>
            <a:r>
              <a:rPr lang="en-US"/>
              <a:t>, allergies, medications, notes/emergency info</a:t>
            </a:r>
          </a:p>
          <a:p>
            <a:pPr marL="0" indent="0">
              <a:buNone/>
            </a:pPr>
            <a:r>
              <a:rPr lang="en-US"/>
              <a:t>                        Examples: Peanut Allergy, Asthma inhaler, EpiPen required, Insulin</a:t>
            </a:r>
          </a:p>
          <a:p>
            <a:pPr marL="0" indent="0">
              <a:buNone/>
            </a:pPr>
            <a:r>
              <a:rPr lang="en-US" b="1"/>
              <a:t>Queries Available</a:t>
            </a:r>
            <a:r>
              <a:rPr lang="en-US"/>
              <a:t>:</a:t>
            </a:r>
          </a:p>
          <a:p>
            <a:r>
              <a:rPr lang="en-US" err="1"/>
              <a:t>IncidentsByStudentId</a:t>
            </a:r>
            <a:r>
              <a:rPr lang="en-US"/>
              <a:t>- gets all incidents for a student</a:t>
            </a:r>
          </a:p>
          <a:p>
            <a:r>
              <a:rPr lang="en-US" err="1"/>
              <a:t>IncidentByTeacherId</a:t>
            </a:r>
            <a:r>
              <a:rPr lang="en-US"/>
              <a:t> – gets all the incidents reported by a teacher</a:t>
            </a:r>
          </a:p>
          <a:p>
            <a:r>
              <a:rPr lang="en-US" err="1"/>
              <a:t>MedicalRecordsByStudentId</a:t>
            </a:r>
            <a:r>
              <a:rPr lang="en-US"/>
              <a:t> – gets a student's medical record</a:t>
            </a:r>
          </a:p>
        </p:txBody>
      </p:sp>
    </p:spTree>
    <p:extLst>
      <p:ext uri="{BB962C8B-B14F-4D97-AF65-F5344CB8AC3E}">
        <p14:creationId xmlns:p14="http://schemas.microsoft.com/office/powerpoint/2010/main" val="4179420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3D8D-15DC-CA25-DA11-B980C586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Parent's Views Backend Integration</a:t>
            </a:r>
            <a:br>
              <a:rPr lang="en-US" b="1"/>
            </a:br>
            <a:r>
              <a:rPr lang="en-US" sz="2400" i="1"/>
              <a:t>Grabbing Parent and Student Data from AWS</a:t>
            </a:r>
            <a:endParaRPr lang="en-US" sz="240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1F71900-B87E-C859-CBE8-7B58C71879C5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5329463" cy="38807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964E4-8DE8-0E99-0DBE-48E46D8F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780975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Upon login, the app now queries AWS for data related to the User</a:t>
            </a:r>
          </a:p>
          <a:p>
            <a:r>
              <a:rPr lang="en-US"/>
              <a:t>For Parents, it queries AWS for its Parent data table and the tables of Students it has access to</a:t>
            </a:r>
          </a:p>
          <a:p>
            <a:endParaRPr lang="en-US"/>
          </a:p>
          <a:p>
            <a:r>
              <a:rPr lang="en-US"/>
              <a:t>This data is stored in a Context layer above the Parent views</a:t>
            </a:r>
          </a:p>
          <a:p>
            <a:r>
              <a:rPr lang="en-US"/>
              <a:t>This data is accessible from anywhere after it has been loaded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04CEF6-6E34-A937-2686-213A48239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878" y="1143828"/>
            <a:ext cx="4255191" cy="2035866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498085-2BEF-3AD2-BAC1-C30DF0E8B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335" y="3233530"/>
            <a:ext cx="2540277" cy="162919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FB7A6B-6F16-610A-2528-0CB072FC1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956" y="4939747"/>
            <a:ext cx="2543175" cy="174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73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F093-3ACC-FAEB-57B7-9E3DED81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Globalizing the UI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930D-3F83-8645-6126-E8775B327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588136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Every screen in the whole app pulls colors from the same file</a:t>
            </a:r>
          </a:p>
          <a:p>
            <a:endParaRPr lang="en-US"/>
          </a:p>
          <a:p>
            <a:r>
              <a:rPr lang="en-US"/>
              <a:t>The whole app reflects a chosen "dark" or "light" mode</a:t>
            </a:r>
          </a:p>
          <a:p>
            <a:endParaRPr lang="en-US"/>
          </a:p>
          <a:p>
            <a:r>
              <a:rPr lang="en-US"/>
              <a:t>Allow users to switch between "dark" or "light" mode as they wish</a:t>
            </a:r>
          </a:p>
          <a:p>
            <a:endParaRPr lang="en-US"/>
          </a:p>
          <a:p>
            <a:r>
              <a:rPr lang="en-US"/>
              <a:t>Allows us to quickly iterate on app-wide color schemes</a:t>
            </a:r>
          </a:p>
        </p:txBody>
      </p:sp>
      <p:pic>
        <p:nvPicPr>
          <p:cNvPr id="4" name="Picture 3" descr="A screenshot of a school application&#10;&#10;AI-generated content may be incorrect.">
            <a:extLst>
              <a:ext uri="{FF2B5EF4-FFF2-40B4-BE49-F238E27FC236}">
                <a16:creationId xmlns:a16="http://schemas.microsoft.com/office/drawing/2014/main" id="{0EE19230-57A9-39A5-30A5-A55E26162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073" y="567359"/>
            <a:ext cx="2463941" cy="5474805"/>
          </a:xfrm>
          <a:prstGeom prst="rect">
            <a:avLst/>
          </a:prstGeom>
        </p:spPr>
      </p:pic>
      <p:pic>
        <p:nvPicPr>
          <p:cNvPr id="5" name="Picture 4" descr="A screenshot of a school application&#10;&#10;AI-generated content may be incorrect.">
            <a:extLst>
              <a:ext uri="{FF2B5EF4-FFF2-40B4-BE49-F238E27FC236}">
                <a16:creationId xmlns:a16="http://schemas.microsoft.com/office/drawing/2014/main" id="{A0C463D4-B956-0D10-DF4C-034E225EF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201" y="567357"/>
            <a:ext cx="2582033" cy="547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02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518A9-A760-3A1F-1F40-D7836C09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C8E7-C443-570F-FC1A-9FB81CA2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Locally-Saved Settings</a:t>
            </a:r>
            <a:br>
              <a:rPr lang="en-US" b="1"/>
            </a:br>
            <a:r>
              <a:rPr lang="en-US" sz="2400" i="1"/>
              <a:t>Allow Users to Customize the App</a:t>
            </a:r>
            <a:endParaRPr lang="en-US" sz="240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D8AD9EC-5D23-FB2D-C5CE-FDBE03A83A63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5329463" cy="38807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811C6-356C-151A-B281-B225443D4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780975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Create a unique table of settings for every </a:t>
            </a:r>
            <a:r>
              <a:rPr lang="en-US" i="1"/>
              <a:t>User </a:t>
            </a:r>
            <a:r>
              <a:rPr lang="en-US"/>
              <a:t>who logs in to the app</a:t>
            </a:r>
          </a:p>
          <a:p>
            <a:r>
              <a:rPr lang="en-US"/>
              <a:t>Upon login, check storage for </a:t>
            </a:r>
            <a:r>
              <a:rPr lang="en-US" i="1"/>
              <a:t>User </a:t>
            </a:r>
            <a:r>
              <a:rPr lang="en-US"/>
              <a:t>settings</a:t>
            </a:r>
          </a:p>
          <a:p>
            <a:endParaRPr lang="en-US"/>
          </a:p>
          <a:p>
            <a:r>
              <a:rPr lang="en-US"/>
              <a:t>Allow </a:t>
            </a:r>
            <a:r>
              <a:rPr lang="en-US" i="1"/>
              <a:t>Users </a:t>
            </a:r>
            <a:r>
              <a:rPr lang="en-US"/>
              <a:t>to change settings, having the settings save to storage</a:t>
            </a:r>
          </a:p>
          <a:p>
            <a:r>
              <a:rPr lang="en-US"/>
              <a:t>Easily expandable to further settings, like Font Size and Button Size</a:t>
            </a:r>
          </a:p>
        </p:txBody>
      </p:sp>
      <p:pic>
        <p:nvPicPr>
          <p:cNvPr id="3" name="Picture 2" descr="A black rectangle with white dots&#10;&#10;AI-generated content may be incorrect.">
            <a:extLst>
              <a:ext uri="{FF2B5EF4-FFF2-40B4-BE49-F238E27FC236}">
                <a16:creationId xmlns:a16="http://schemas.microsoft.com/office/drawing/2014/main" id="{6611974C-BB10-6FAD-0087-5785AC334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425" y="327163"/>
            <a:ext cx="2530366" cy="5222185"/>
          </a:xfrm>
          <a:prstGeom prst="rect">
            <a:avLst/>
          </a:pr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D844EC3-EEAE-A617-62FA-9E92B68A5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072" y="5728667"/>
            <a:ext cx="5018432" cy="58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8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90DB-2A1A-DAE1-7D54-F3FE8C2BC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580" y="49306"/>
            <a:ext cx="10197494" cy="1099457"/>
          </a:xfrm>
        </p:spPr>
        <p:txBody>
          <a:bodyPr>
            <a:normAutofit/>
          </a:bodyPr>
          <a:lstStyle/>
          <a:p>
            <a:r>
              <a:rPr lang="en-US" b="1"/>
              <a:t>Test Cases</a:t>
            </a:r>
          </a:p>
        </p:txBody>
      </p: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7356C399-8055-9C4A-6765-85AF493181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265388"/>
              </p:ext>
            </p:extLst>
          </p:nvPr>
        </p:nvGraphicFramePr>
        <p:xfrm>
          <a:off x="511479" y="751561"/>
          <a:ext cx="11636854" cy="572859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102636">
                  <a:extLst>
                    <a:ext uri="{9D8B030D-6E8A-4147-A177-3AD203B41FA5}">
                      <a16:colId xmlns:a16="http://schemas.microsoft.com/office/drawing/2014/main" val="1221919752"/>
                    </a:ext>
                  </a:extLst>
                </a:gridCol>
                <a:gridCol w="2208759">
                  <a:extLst>
                    <a:ext uri="{9D8B030D-6E8A-4147-A177-3AD203B41FA5}">
                      <a16:colId xmlns:a16="http://schemas.microsoft.com/office/drawing/2014/main" val="1265162402"/>
                    </a:ext>
                  </a:extLst>
                </a:gridCol>
                <a:gridCol w="2417462">
                  <a:extLst>
                    <a:ext uri="{9D8B030D-6E8A-4147-A177-3AD203B41FA5}">
                      <a16:colId xmlns:a16="http://schemas.microsoft.com/office/drawing/2014/main" val="2549235222"/>
                    </a:ext>
                  </a:extLst>
                </a:gridCol>
                <a:gridCol w="2321807">
                  <a:extLst>
                    <a:ext uri="{9D8B030D-6E8A-4147-A177-3AD203B41FA5}">
                      <a16:colId xmlns:a16="http://schemas.microsoft.com/office/drawing/2014/main" val="470078602"/>
                    </a:ext>
                  </a:extLst>
                </a:gridCol>
                <a:gridCol w="1793095">
                  <a:extLst>
                    <a:ext uri="{9D8B030D-6E8A-4147-A177-3AD203B41FA5}">
                      <a16:colId xmlns:a16="http://schemas.microsoft.com/office/drawing/2014/main" val="3796179146"/>
                    </a:ext>
                  </a:extLst>
                </a:gridCol>
                <a:gridCol w="1793095">
                  <a:extLst>
                    <a:ext uri="{9D8B030D-6E8A-4147-A177-3AD203B41FA5}">
                      <a16:colId xmlns:a16="http://schemas.microsoft.com/office/drawing/2014/main" val="349668245"/>
                    </a:ext>
                  </a:extLst>
                </a:gridCol>
              </a:tblGrid>
              <a:tr h="6256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200" cap="all" spc="15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Test Case ID </a:t>
                      </a:r>
                    </a:p>
                  </a:txBody>
                  <a:tcPr marL="146821" marR="146821" marT="146821" marB="14682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200" cap="all" spc="15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Description </a:t>
                      </a:r>
                    </a:p>
                  </a:txBody>
                  <a:tcPr marL="146821" marR="146821" marT="146821" marB="14682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200" cap="all" spc="15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Requirement Trace </a:t>
                      </a:r>
                    </a:p>
                  </a:txBody>
                  <a:tcPr marL="146821" marR="146821" marT="146821" marB="14682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200" cap="all" spc="15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Directions </a:t>
                      </a:r>
                    </a:p>
                  </a:txBody>
                  <a:tcPr marL="146821" marR="146821" marT="146821" marB="14682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200" cap="all" spc="15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Expected Output </a:t>
                      </a:r>
                    </a:p>
                  </a:txBody>
                  <a:tcPr marL="146821" marR="146821" marT="146821" marB="14682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376"/>
                        </a:lnSpc>
                        <a:buNone/>
                      </a:pPr>
                      <a:r>
                        <a:rPr lang="en-US" sz="1200" cap="all" spc="15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Pass/fail</a:t>
                      </a:r>
                    </a:p>
                  </a:txBody>
                  <a:tcPr marL="146820" marR="146820" marT="146820" marB="1468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852201"/>
                  </a:ext>
                </a:extLst>
              </a:tr>
              <a:tr h="733468"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TCB-006 </a:t>
                      </a:r>
                      <a:endParaRPr lang="en-US"/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Verify correct account data fetched and used by Frontend from AWS </a:t>
                      </a:r>
                      <a:endParaRPr lang="en-US" sz="1200" cap="none" spc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noProof="0"/>
                        <a:t>R31, R32, R36 </a:t>
                      </a:r>
                      <a:endParaRPr lang="en-US" sz="1200">
                        <a:latin typeface="Times New Roman"/>
                      </a:endParaRPr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Login with a Parent Cognito account</a:t>
                      </a:r>
                      <a:endParaRPr lang="en-US"/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Go to “General Info” screen</a:t>
                      </a:r>
                      <a:endParaRPr lang="en-US"/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Tap the Student Picker dropdown</a:t>
                      </a:r>
                      <a:endParaRPr lang="en-US"/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Check Student names against what’s expected</a:t>
                      </a:r>
                      <a:endParaRPr lang="en-US"/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Select a student</a:t>
                      </a:r>
                      <a:endParaRPr lang="en-US"/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Verify information in screen reflects Student information accurately</a:t>
                      </a:r>
                      <a:endParaRPr lang="en-US"/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Repeat steps 5-6 for all Students available </a:t>
                      </a:r>
                      <a:endParaRPr lang="en-US"/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The Students connected to the parent’s account should all be loaded in and shown successfully. Each Student should have accurate information provided by the backend. </a:t>
                      </a:r>
                      <a:endParaRPr lang="en-US" sz="1200" cap="none" spc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Pass</a:t>
                      </a:r>
                    </a:p>
                  </a:txBody>
                  <a:tcPr marL="146820" marR="146820" marT="146820" marB="1468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45292"/>
                  </a:ext>
                </a:extLst>
              </a:tr>
              <a:tr h="981552"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rebuchet MS"/>
                        </a:rPr>
                        <a:t>TCB-701 </a:t>
                      </a: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/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rebuchet MS"/>
                        </a:rPr>
                        <a:t>Verify app appearance global variable reflects OS theme by default </a:t>
                      </a: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200" cap="none" spc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R16</a:t>
                      </a:r>
                      <a:endParaRPr lang="en-US"/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Wipe app cache, ensuring app has no saved settings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Change OS theme to “light” mode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Open app to login screen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Observe color theme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Repeat steps 1-4 with “dark” mode OS theme</a:t>
                      </a:r>
                    </a:p>
                    <a:p>
                      <a:pPr marL="342900" lvl="0" indent="-342900" algn="l">
                        <a:lnSpc>
                          <a:spcPts val="1295"/>
                        </a:lnSpc>
                        <a:buClr>
                          <a:srgbClr val="000000"/>
                        </a:buClr>
                        <a:buAutoNum type="arabicPeriod"/>
                      </a:pPr>
                      <a:endParaRPr lang="en-US" sz="1200" u="none" strike="noStrike" cap="none" spc="0" noProof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rebuchet MS"/>
                        </a:rPr>
                        <a:t>The app will reflect the color scheme of the OS’s </a:t>
                      </a:r>
                      <a:r>
                        <a:rPr lang="en-US" sz="1000" b="0" i="0" u="none" strike="noStrike" cap="none" spc="0" noProof="0" err="1">
                          <a:solidFill>
                            <a:srgbClr val="000000"/>
                          </a:solidFill>
                          <a:effectLst/>
                          <a:latin typeface="Trebuchet MS"/>
                        </a:rPr>
                        <a:t>ui</a:t>
                      </a: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rebuchet MS"/>
                        </a:rPr>
                        <a:t>. Console will log </a:t>
                      </a:r>
                      <a:r>
                        <a:rPr lang="en-US" sz="1000" b="0" i="0" u="none" strike="noStrike" cap="none" spc="0" noProof="0" err="1">
                          <a:solidFill>
                            <a:srgbClr val="000000"/>
                          </a:solidFill>
                          <a:effectLst/>
                          <a:latin typeface="Trebuchet MS"/>
                        </a:rPr>
                        <a:t>ui</a:t>
                      </a: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latin typeface="Trebuchet MS"/>
                        </a:rPr>
                        <a:t> as “dark” or “light”, matching the scheme of the OS. </a:t>
                      </a:r>
                      <a:endParaRPr lang="en-US" sz="1000">
                        <a:latin typeface="Trebuchet MS"/>
                      </a:endParaRPr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Pass</a:t>
                      </a:r>
                    </a:p>
                  </a:txBody>
                  <a:tcPr marL="146820" marR="146820" marT="146820" marB="1468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48570"/>
                  </a:ext>
                </a:extLst>
              </a:tr>
              <a:tr h="981552"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TCB-702 </a:t>
                      </a:r>
                      <a:endParaRPr lang="en-US"/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App appearance changes when changing UI theme in settings </a:t>
                      </a:r>
                      <a:endParaRPr lang="en-US" sz="1200" cap="none" spc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R16 </a:t>
                      </a:r>
                      <a:endParaRPr lang="en-US"/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Login to the app and navigate to the “Settings” screen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Tap the UI theme toggle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sz="1000" b="0" i="0" u="none" strike="noStrike" cap="none" spc="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Times New Roman"/>
                        </a:rPr>
                        <a:t>Hit “Apply” to apply the settings.</a:t>
                      </a:r>
                    </a:p>
                    <a:p>
                      <a:pPr marL="0" lvl="0" indent="0" algn="l">
                        <a:lnSpc>
                          <a:spcPts val="1295"/>
                        </a:lnSpc>
                        <a:buNone/>
                      </a:pPr>
                      <a:endParaRPr lang="en-US" sz="1200" u="none" strike="noStrike" cap="none" spc="0" noProof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8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The app will change UI colors to reflect the newly chosen theme instantly. Console will log both the changing of theme </a:t>
                      </a:r>
                      <a:r>
                        <a:rPr lang="en-US" sz="800" b="0" i="0" u="none" strike="noStrike" cap="none" spc="0" noProof="0" err="1">
                          <a:solidFill>
                            <a:srgbClr val="000000"/>
                          </a:solidFill>
                          <a:effectLst/>
                        </a:rPr>
                        <a:t>aswell</a:t>
                      </a:r>
                      <a:r>
                        <a:rPr lang="en-US" sz="800" b="0" i="0" u="none" strike="noStrike" cap="none" spc="0" noProof="0">
                          <a:solidFill>
                            <a:srgbClr val="000000"/>
                          </a:solidFill>
                          <a:effectLst/>
                        </a:rPr>
                        <a:t> as saving the new settings to local storage. Both should be logged with no errors. </a:t>
                      </a:r>
                      <a:endParaRPr lang="en-US" sz="1100"/>
                    </a:p>
                  </a:txBody>
                  <a:tcPr marL="146821" marR="146821" marT="146821" marB="1468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95"/>
                        </a:lnSpc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Pass</a:t>
                      </a:r>
                    </a:p>
                  </a:txBody>
                  <a:tcPr marL="146820" marR="146820" marT="146820" marB="1468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903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4662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DDDE-2E32-CA2F-0664-801614DD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Improvements to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96E0B-EB3E-E330-D18E-74493B682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/>
              <a:t>Requirements Document:</a:t>
            </a:r>
          </a:p>
          <a:p>
            <a:r>
              <a:rPr lang="en-US">
                <a:ea typeface="+mn-lt"/>
                <a:cs typeface="+mn-lt"/>
              </a:rPr>
              <a:t>Added R37, a functional about app theming </a:t>
            </a:r>
            <a:endParaRPr lang="en-US"/>
          </a:p>
          <a:p>
            <a:pPr marL="0" indent="0">
              <a:buNone/>
            </a:pPr>
            <a:r>
              <a:rPr lang="en-US" sz="2000" b="1"/>
              <a:t>Design Document:</a:t>
            </a:r>
          </a:p>
          <a:p>
            <a:r>
              <a:rPr lang="en-US"/>
              <a:t>Updated all Screenshots to reflect changes</a:t>
            </a:r>
          </a:p>
          <a:p>
            <a:pPr marL="0" indent="0">
              <a:buNone/>
            </a:pPr>
            <a:r>
              <a:rPr lang="en-US" b="1"/>
              <a:t>Test Document:</a:t>
            </a:r>
          </a:p>
          <a:p>
            <a:r>
              <a:rPr lang="en-US"/>
              <a:t>Added black-box test cases for testing the global UI theme feature</a:t>
            </a:r>
          </a:p>
          <a:p>
            <a:r>
              <a:rPr lang="en-US"/>
              <a:t>Added black-box test cases for testing the Local Settings feature</a:t>
            </a:r>
          </a:p>
          <a:p>
            <a:r>
              <a:rPr lang="en-US"/>
              <a:t>Added black-box test cases for the AWS </a:t>
            </a:r>
            <a:r>
              <a:rPr lang="en-US" err="1"/>
              <a:t>Graphql</a:t>
            </a:r>
            <a:r>
              <a:rPr lang="en-US"/>
              <a:t> data integration to Frontend</a:t>
            </a:r>
          </a:p>
        </p:txBody>
      </p:sp>
    </p:spTree>
    <p:extLst>
      <p:ext uri="{BB962C8B-B14F-4D97-AF65-F5344CB8AC3E}">
        <p14:creationId xmlns:p14="http://schemas.microsoft.com/office/powerpoint/2010/main" val="495087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7261-BFF4-D6C1-EDEB-950E107A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72A2-8717-6A3F-0D5F-61A2F556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Before the Sprint is Over</a:t>
            </a:r>
            <a:endParaRPr lang="en-US" sz="2000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9BF8-6CCA-C93F-CC25-8D57086C6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1875"/>
            <a:ext cx="8596668" cy="44794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Write up Sprint Submission Report</a:t>
            </a:r>
          </a:p>
        </p:txBody>
      </p:sp>
    </p:spTree>
    <p:extLst>
      <p:ext uri="{BB962C8B-B14F-4D97-AF65-F5344CB8AC3E}">
        <p14:creationId xmlns:p14="http://schemas.microsoft.com/office/powerpoint/2010/main" val="364896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917C-0F30-E16B-F539-CF1B6F4D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rgbClr val="90C226"/>
                </a:solidFill>
              </a:rPr>
              <a:t>Focus of Next Sprint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21DBF-8496-6595-BFF0-6351C6EC1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Expanding the AWS backend to include more data for Announcements, Student Documentation, Classes, Teacher-Class data, etc.</a:t>
            </a:r>
          </a:p>
          <a:p>
            <a:r>
              <a:rPr lang="en-US">
                <a:ea typeface="Calibri"/>
                <a:cs typeface="Calibri"/>
              </a:rPr>
              <a:t>Having every piece of relevant data in-app be provided by the Backend</a:t>
            </a:r>
          </a:p>
          <a:p>
            <a:r>
              <a:rPr lang="en-US" b="1">
                <a:ea typeface="Calibri"/>
                <a:cs typeface="Calibri"/>
              </a:rPr>
              <a:t>Direct Messaging!</a:t>
            </a:r>
          </a:p>
          <a:p>
            <a:r>
              <a:rPr lang="en-US" b="1">
                <a:ea typeface="Calibri"/>
                <a:cs typeface="Calibri"/>
              </a:rPr>
              <a:t>Have automated seeding of data with respect to the correct ORM of tables.</a:t>
            </a:r>
          </a:p>
        </p:txBody>
      </p:sp>
    </p:spTree>
    <p:extLst>
      <p:ext uri="{BB962C8B-B14F-4D97-AF65-F5344CB8AC3E}">
        <p14:creationId xmlns:p14="http://schemas.microsoft.com/office/powerpoint/2010/main" val="20608312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Facet</vt:lpstr>
      <vt:lpstr>Project Clara Sprint 4 </vt:lpstr>
      <vt:lpstr>Problem Statement </vt:lpstr>
      <vt:lpstr>Reorganized File Structure  </vt:lpstr>
      <vt:lpstr>PowerPoint Presentation</vt:lpstr>
      <vt:lpstr>PowerPoint Presentation</vt:lpstr>
      <vt:lpstr>Backend – 1 Backend Data Architecture</vt:lpstr>
      <vt:lpstr>Database: Tables Created</vt:lpstr>
      <vt:lpstr>Backend: Additional Tables</vt:lpstr>
      <vt:lpstr>Parent's Views Backend Integration Grabbing Parent and Student Data from AWS</vt:lpstr>
      <vt:lpstr>Globalizing the UI Themes</vt:lpstr>
      <vt:lpstr>Locally-Saved Settings Allow Users to Customize the App</vt:lpstr>
      <vt:lpstr>Test Cases</vt:lpstr>
      <vt:lpstr>Improvements to Documents</vt:lpstr>
      <vt:lpstr>Before the Sprint is Over</vt:lpstr>
      <vt:lpstr>Focus of Next Sprint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2026-01-20T18:25:13Z</dcterms:created>
  <dcterms:modified xsi:type="dcterms:W3CDTF">2026-02-11T20:42:18Z</dcterms:modified>
</cp:coreProperties>
</file>